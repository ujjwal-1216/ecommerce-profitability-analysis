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89FC-63EB-6A6E-CD8C-7C34B77C9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3661B-0EFF-A3CA-DCD9-9EBA3632C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8A47-AD2C-FDF5-593C-CCDFAE0C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DEC4-EA84-71A9-B85F-30701BB4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B6EE9-55AC-F950-8E95-BEB33E79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95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362B-9ED0-F5ED-8B11-836B9A72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6E4A-6DA4-729B-DE9A-4E8ADD476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9EED-770F-F020-1061-ABC374EE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278A5-0812-817F-7D18-178DB021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A271F-E463-93FD-FA8B-1F0AC0DC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25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E950-B913-E2BE-6800-E3FB1038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6BE36-0A4E-38DD-53C2-BA6929145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C820B-FA6E-7A31-BF98-66690106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CFF0B-B9F2-0EE7-3E39-BD0F83F1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A2405-C816-63E3-8D8F-73EF9E9F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14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AC3E-CD2E-CE1B-53E2-C23450CA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4F18F-487A-22D2-1D2C-88104FEBD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D76D1-E807-A95C-2874-C2904C353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756AB-6509-FFF0-742B-4678733B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5D3DF-0010-5843-78AB-02267AA4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7D9F8-4A1D-043D-6533-DD376ECB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88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B766-74B8-0C27-530B-CFC142C4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2AD5A-9B83-CF96-AC4D-B8DE11A1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7044E-53BD-D594-25BE-CD4E42A7D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F5EFA-EC55-7DDE-B332-EE4E5A1C7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06A05-28FF-7BD0-90D1-3BFFAB114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0F463-24BF-6CCC-E00F-05798BF1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79640-7E10-8A99-DBDD-68B48760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0172A-392E-3FC5-29A3-2A6D8954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5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8324-1BE9-E35C-4923-13238D37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396E2-1594-4B6A-D1D6-E4E9FE8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129A8-D482-35DB-AD5E-F48DAF37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C03FB-B856-2513-3A93-8F91BE14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2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A79DA-0592-B07B-0799-F3F24A4E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1FA2-70F8-23A2-EB06-5C523A77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921E5-E009-66F1-026D-26036FC3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5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0843-6568-6666-DB7C-8A1A4474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280E-51D1-B2EA-AEA5-F0553D9D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E6B16-310B-4F9F-D77F-3551528F3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23D56-91CC-350C-C144-171F89CFC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0B557-5BEA-630E-B08A-AEE4699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0B7E3-6744-D40E-C845-F9606696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4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8437-3718-7014-9F17-A13D16CE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A2867-536E-0863-847D-9212D6835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91EE8-DF5A-DAB1-D8AF-888AB8845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D09E6-C63A-421F-94ED-313724F2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432BD-F53D-E56D-3789-0A2DA151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6D0EE-9A43-44D2-3CFB-588AA416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5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BBA8-63D9-B771-DBFE-6ECCB27D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150F1-A8C2-BFFE-D662-B013EFC10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5856-1426-7557-118D-AD54C726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3A924-DE9B-2026-1D95-D2B2F983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31366-8062-167D-342D-146BE990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1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879F6-9373-A1DD-A684-28388AB2D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7F8CF-B308-9576-7503-699D47C1E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6148F-6394-A416-4E3C-A7766368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F243-78CB-65CB-3BBE-EEB20A98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21BC-7441-AFD6-BD35-57C0ED59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A9ED-242F-5757-0A13-BB268DA3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FC65B-0CC5-AE71-29FA-C366D6DFF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07E-2F73-37C5-0BE0-8C4381B5B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B0214-94CB-46ED-AE38-77B0C2E787D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D2E6-A16D-2566-26D5-E5AE52EDA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1239-C2BD-09A5-F410-0636D6143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1781F-640A-4384-9BFF-15E169E75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06E3-628E-106E-CFB5-51C4C5C9DA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: Profitability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99D13-1023-49AF-C0A9-374661ACA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32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F0F3-8F3A-ACB6-2C04-D096D9F6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4E60-1DBF-3F67-425E-36F334B29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01"/>
            <a:ext cx="10515600" cy="4666662"/>
          </a:xfrm>
        </p:spPr>
        <p:txBody>
          <a:bodyPr/>
          <a:lstStyle/>
          <a:p>
            <a:r>
              <a:rPr lang="en-US" b="1" dirty="0"/>
              <a:t>Total Revenue:</a:t>
            </a:r>
            <a:r>
              <a:rPr lang="en-US" dirty="0"/>
              <a:t> $236,318</a:t>
            </a:r>
            <a:br>
              <a:rPr lang="en-US" dirty="0"/>
            </a:br>
            <a:r>
              <a:rPr lang="en-US" b="1" dirty="0"/>
              <a:t>Total Profit:</a:t>
            </a:r>
            <a:r>
              <a:rPr lang="en-US" dirty="0"/>
              <a:t> $56,333</a:t>
            </a:r>
            <a:br>
              <a:rPr lang="en-US" dirty="0"/>
            </a:br>
            <a:r>
              <a:rPr lang="en-US" b="1" dirty="0"/>
              <a:t>Profit Margin:</a:t>
            </a:r>
            <a:r>
              <a:rPr lang="en-US" dirty="0"/>
              <a:t> 23.84%</a:t>
            </a:r>
            <a:br>
              <a:rPr lang="en-US" dirty="0"/>
            </a:br>
            <a:r>
              <a:rPr lang="en-US" b="1" dirty="0"/>
              <a:t>Return Rate:</a:t>
            </a:r>
            <a:r>
              <a:rPr lang="en-US" dirty="0"/>
              <a:t> 7.2%</a:t>
            </a:r>
          </a:p>
          <a:p>
            <a:pPr marL="0" indent="0">
              <a:buNone/>
            </a:pPr>
            <a:r>
              <a:rPr lang="en-IN" b="1" dirty="0"/>
              <a:t>Insights :</a:t>
            </a:r>
          </a:p>
          <a:p>
            <a:pPr marL="0" indent="0">
              <a:buNone/>
            </a:pPr>
            <a:r>
              <a:rPr lang="en-US" sz="2400" dirty="0"/>
              <a:t>The company maintains a </a:t>
            </a:r>
            <a:r>
              <a:rPr lang="en-US" sz="2400" b="1" dirty="0"/>
              <a:t>healthy profit margin (~24%)</a:t>
            </a:r>
            <a:r>
              <a:rPr lang="en-US" sz="2400" dirty="0"/>
              <a:t>, but </a:t>
            </a:r>
            <a:r>
              <a:rPr lang="en-US" sz="2400" b="1" dirty="0"/>
              <a:t>returns are reducing profitability</a:t>
            </a:r>
            <a:r>
              <a:rPr lang="en-US" sz="2400" dirty="0"/>
              <a:t>. A </a:t>
            </a:r>
            <a:r>
              <a:rPr lang="en-US" sz="2400" b="1" dirty="0"/>
              <a:t>7.2% return rate</a:t>
            </a:r>
            <a:r>
              <a:rPr lang="en-US" sz="2400" dirty="0"/>
              <a:t> indicates operational inefficiencies that could be improved.</a:t>
            </a:r>
          </a:p>
          <a:p>
            <a:pPr marL="0" indent="0">
              <a:buNone/>
            </a:pPr>
            <a:r>
              <a:rPr lang="en-IN" sz="2400" b="1" dirty="0"/>
              <a:t>Business Impact :</a:t>
            </a:r>
          </a:p>
          <a:p>
            <a:pPr marL="0" indent="0">
              <a:buNone/>
            </a:pPr>
            <a:r>
              <a:rPr lang="en-US" sz="2400" dirty="0"/>
              <a:t>If the return rate is reduced to </a:t>
            </a:r>
            <a:r>
              <a:rPr lang="en-US" sz="2400" b="1" dirty="0"/>
              <a:t>5%</a:t>
            </a:r>
            <a:r>
              <a:rPr lang="en-US" sz="2400" dirty="0"/>
              <a:t>, profits could increase significantly due to lower refund and logistics costs.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4669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D388-1DD8-2009-36C6-00EE2E98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7" y="388778"/>
            <a:ext cx="10515600" cy="1325563"/>
          </a:xfrm>
        </p:spPr>
        <p:txBody>
          <a:bodyPr/>
          <a:lstStyle/>
          <a:p>
            <a:r>
              <a:rPr lang="en-IN" dirty="0"/>
              <a:t>Top performing categories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518A0E-5828-61AD-D065-57885AECAE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561892"/>
              </p:ext>
            </p:extLst>
          </p:nvPr>
        </p:nvGraphicFramePr>
        <p:xfrm>
          <a:off x="940940" y="1690688"/>
          <a:ext cx="3898188" cy="1828800"/>
        </p:xfrm>
        <a:graphic>
          <a:graphicData uri="http://schemas.openxmlformats.org/drawingml/2006/table">
            <a:tbl>
              <a:tblPr/>
              <a:tblGrid>
                <a:gridCol w="1949094">
                  <a:extLst>
                    <a:ext uri="{9D8B030D-6E8A-4147-A177-3AD203B41FA5}">
                      <a16:colId xmlns:a16="http://schemas.microsoft.com/office/drawing/2014/main" val="3304539928"/>
                    </a:ext>
                  </a:extLst>
                </a:gridCol>
                <a:gridCol w="1949094">
                  <a:extLst>
                    <a:ext uri="{9D8B030D-6E8A-4147-A177-3AD203B41FA5}">
                      <a16:colId xmlns:a16="http://schemas.microsoft.com/office/drawing/2014/main" val="925159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68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$13,973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55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$8,786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7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$7,596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89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Food &amp; Beverage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$7,591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0303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9FA77-7EFC-D271-D8D5-30D66392F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39838"/>
              </p:ext>
            </p:extLst>
          </p:nvPr>
        </p:nvGraphicFramePr>
        <p:xfrm>
          <a:off x="940940" y="4113531"/>
          <a:ext cx="4401622" cy="731520"/>
        </p:xfrm>
        <a:graphic>
          <a:graphicData uri="http://schemas.openxmlformats.org/drawingml/2006/table">
            <a:tbl>
              <a:tblPr/>
              <a:tblGrid>
                <a:gridCol w="2200811">
                  <a:extLst>
                    <a:ext uri="{9D8B030D-6E8A-4147-A177-3AD203B41FA5}">
                      <a16:colId xmlns:a16="http://schemas.microsoft.com/office/drawing/2014/main" val="3815825315"/>
                    </a:ext>
                  </a:extLst>
                </a:gridCol>
                <a:gridCol w="2200811">
                  <a:extLst>
                    <a:ext uri="{9D8B030D-6E8A-4147-A177-3AD203B41FA5}">
                      <a16:colId xmlns:a16="http://schemas.microsoft.com/office/drawing/2014/main" val="263556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17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$2,249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180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937AC7-8C45-4F01-1C7F-49899E88C6F3}"/>
              </a:ext>
            </a:extLst>
          </p:cNvPr>
          <p:cNvSpPr txBox="1"/>
          <p:nvPr/>
        </p:nvSpPr>
        <p:spPr>
          <a:xfrm>
            <a:off x="838200" y="3651866"/>
            <a:ext cx="3271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Lowest profit category: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641EDD-927A-8F4F-3F4E-D27F65753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954085"/>
              </p:ext>
            </p:extLst>
          </p:nvPr>
        </p:nvGraphicFramePr>
        <p:xfrm>
          <a:off x="6096000" y="1783080"/>
          <a:ext cx="6257818" cy="3291840"/>
        </p:xfrm>
        <a:graphic>
          <a:graphicData uri="http://schemas.openxmlformats.org/drawingml/2006/table">
            <a:tbl>
              <a:tblPr/>
              <a:tblGrid>
                <a:gridCol w="3128909">
                  <a:extLst>
                    <a:ext uri="{9D8B030D-6E8A-4147-A177-3AD203B41FA5}">
                      <a16:colId xmlns:a16="http://schemas.microsoft.com/office/drawing/2014/main" val="2983566058"/>
                    </a:ext>
                  </a:extLst>
                </a:gridCol>
                <a:gridCol w="3128909">
                  <a:extLst>
                    <a:ext uri="{9D8B030D-6E8A-4147-A177-3AD203B41FA5}">
                      <a16:colId xmlns:a16="http://schemas.microsoft.com/office/drawing/2014/main" val="82274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9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31.13%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81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Home &amp; Kitchen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25.37%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67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26.15%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94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Food &amp; Beverage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24.76%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4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23.5%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70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19.99%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76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Beauty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17.39%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527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11.94%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417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B51E13-C687-7B21-C99F-ECCC5F886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98728"/>
              </p:ext>
            </p:extLst>
          </p:nvPr>
        </p:nvGraphicFramePr>
        <p:xfrm>
          <a:off x="6095998" y="1417320"/>
          <a:ext cx="3842922" cy="365760"/>
        </p:xfrm>
        <a:graphic>
          <a:graphicData uri="http://schemas.openxmlformats.org/drawingml/2006/table">
            <a:tbl>
              <a:tblPr/>
              <a:tblGrid>
                <a:gridCol w="1921461">
                  <a:extLst>
                    <a:ext uri="{9D8B030D-6E8A-4147-A177-3AD203B41FA5}">
                      <a16:colId xmlns:a16="http://schemas.microsoft.com/office/drawing/2014/main" val="1013763662"/>
                    </a:ext>
                  </a:extLst>
                </a:gridCol>
                <a:gridCol w="1921461">
                  <a:extLst>
                    <a:ext uri="{9D8B030D-6E8A-4147-A177-3AD203B41FA5}">
                      <a16:colId xmlns:a16="http://schemas.microsoft.com/office/drawing/2014/main" val="2775317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61177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6E69E55-4572-EB2A-8C53-3CA469319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76115"/>
            <a:ext cx="445556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 by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4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0B8A-3DD2-5632-7DD1-8C663C67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246"/>
            <a:ext cx="10515600" cy="785581"/>
          </a:xfrm>
        </p:spPr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826A-D3A2-4AA5-4FE5-5039603BF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06"/>
            <a:ext cx="10515600" cy="5026257"/>
          </a:xfrm>
        </p:spPr>
        <p:txBody>
          <a:bodyPr/>
          <a:lstStyle/>
          <a:p>
            <a:r>
              <a:rPr lang="en-US" b="1" dirty="0"/>
              <a:t>Electronics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Highest margin and highest profit.</a:t>
            </a:r>
          </a:p>
          <a:p>
            <a:pPr marL="0" indent="0">
              <a:buNone/>
            </a:pPr>
            <a:r>
              <a:rPr lang="en-US" dirty="0"/>
              <a:t>Key growth driver.</a:t>
            </a:r>
          </a:p>
          <a:p>
            <a:r>
              <a:rPr lang="en-IN" b="1" dirty="0"/>
              <a:t>Books</a:t>
            </a:r>
          </a:p>
          <a:p>
            <a:pPr marL="0" indent="0">
              <a:buNone/>
            </a:pPr>
            <a:endParaRPr lang="en-IN" dirty="0"/>
          </a:p>
          <a:p>
            <a:endParaRPr lang="en-US" b="1" dirty="0"/>
          </a:p>
          <a:p>
            <a:r>
              <a:rPr lang="en-US" b="1" dirty="0"/>
              <a:t>Clothing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Moderate margin but high returns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43239A-AB2B-AD56-48EB-D7D76645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667" y="3136793"/>
            <a:ext cx="77644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margin.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Possibly affected by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pricing and high shipping costs</a:t>
            </a:r>
          </a:p>
        </p:txBody>
      </p:sp>
    </p:spTree>
    <p:extLst>
      <p:ext uri="{BB962C8B-B14F-4D97-AF65-F5344CB8AC3E}">
        <p14:creationId xmlns:p14="http://schemas.microsoft.com/office/powerpoint/2010/main" val="169441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38C3-DF7A-E7D8-BFBF-F77F502E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336B6-73F3-A111-9D3E-1E15EBDA1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inventory and marketing on:</a:t>
            </a:r>
          </a:p>
          <a:p>
            <a:pPr marL="0" indent="0">
              <a:buNone/>
            </a:pPr>
            <a:r>
              <a:rPr lang="en-US" dirty="0"/>
              <a:t>Electronics</a:t>
            </a:r>
          </a:p>
          <a:p>
            <a:pPr marL="0" indent="0">
              <a:buNone/>
            </a:pPr>
            <a:r>
              <a:rPr lang="en-US" dirty="0"/>
              <a:t>Toys</a:t>
            </a:r>
          </a:p>
          <a:p>
            <a:pPr marL="0" indent="0">
              <a:buNone/>
            </a:pPr>
            <a:r>
              <a:rPr lang="en-US" dirty="0"/>
              <a:t>Home &amp; Kitchen</a:t>
            </a:r>
          </a:p>
          <a:p>
            <a:r>
              <a:rPr lang="en-US" dirty="0"/>
              <a:t>Reduce emphasis on:</a:t>
            </a:r>
          </a:p>
          <a:p>
            <a:pPr marL="0" indent="0">
              <a:buNone/>
            </a:pPr>
            <a:r>
              <a:rPr lang="en-US" dirty="0"/>
              <a:t>Books category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42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1D5A-7334-EE0A-3265-02365029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855"/>
          </a:xfrm>
        </p:spPr>
        <p:txBody>
          <a:bodyPr/>
          <a:lstStyle/>
          <a:p>
            <a:r>
              <a:rPr lang="en-US" dirty="0"/>
              <a:t>Sales Channel Insights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719FA-5163-1933-9174-44D5BAB42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382"/>
            <a:ext cx="10515600" cy="473858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Profit by Channel                                                  Profit Margin by Channel 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FA53F-9849-1896-425B-461405AA0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0899"/>
              </p:ext>
            </p:extLst>
          </p:nvPr>
        </p:nvGraphicFramePr>
        <p:xfrm>
          <a:off x="838200" y="1978872"/>
          <a:ext cx="4175590" cy="1828800"/>
        </p:xfrm>
        <a:graphic>
          <a:graphicData uri="http://schemas.openxmlformats.org/drawingml/2006/table">
            <a:tbl>
              <a:tblPr/>
              <a:tblGrid>
                <a:gridCol w="2087795">
                  <a:extLst>
                    <a:ext uri="{9D8B030D-6E8A-4147-A177-3AD203B41FA5}">
                      <a16:colId xmlns:a16="http://schemas.microsoft.com/office/drawing/2014/main" val="2589134836"/>
                    </a:ext>
                  </a:extLst>
                </a:gridCol>
                <a:gridCol w="2087795">
                  <a:extLst>
                    <a:ext uri="{9D8B030D-6E8A-4147-A177-3AD203B41FA5}">
                      <a16:colId xmlns:a16="http://schemas.microsoft.com/office/drawing/2014/main" val="2006598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Channel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458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$25,118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48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$21,393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72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$6,451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95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Social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$3,370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7488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FC782B-F1D3-2F00-E4DC-4D4D1F452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89734"/>
              </p:ext>
            </p:extLst>
          </p:nvPr>
        </p:nvGraphicFramePr>
        <p:xfrm>
          <a:off x="7629418" y="1978872"/>
          <a:ext cx="3939284" cy="1828800"/>
        </p:xfrm>
        <a:graphic>
          <a:graphicData uri="http://schemas.openxmlformats.org/drawingml/2006/table">
            <a:tbl>
              <a:tblPr/>
              <a:tblGrid>
                <a:gridCol w="1969642">
                  <a:extLst>
                    <a:ext uri="{9D8B030D-6E8A-4147-A177-3AD203B41FA5}">
                      <a16:colId xmlns:a16="http://schemas.microsoft.com/office/drawing/2014/main" val="1463536970"/>
                    </a:ext>
                  </a:extLst>
                </a:gridCol>
                <a:gridCol w="1969642">
                  <a:extLst>
                    <a:ext uri="{9D8B030D-6E8A-4147-A177-3AD203B41FA5}">
                      <a16:colId xmlns:a16="http://schemas.microsoft.com/office/drawing/2014/main" val="2479543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750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29.76%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765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27.01%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4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Social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15.37%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12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13.03%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07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52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26C4-8021-F634-8A6D-87EFAB97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4797-9812-656C-489C-0815631E4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Mobile App</a:t>
            </a:r>
            <a:endParaRPr lang="en-US" dirty="0"/>
          </a:p>
          <a:p>
            <a:r>
              <a:rPr lang="en-US" dirty="0"/>
              <a:t>Highest profit margin</a:t>
            </a:r>
          </a:p>
          <a:p>
            <a:r>
              <a:rPr lang="en-US" dirty="0"/>
              <a:t>Strong customer engagement</a:t>
            </a:r>
          </a:p>
          <a:p>
            <a:r>
              <a:rPr lang="en-US" b="1" dirty="0"/>
              <a:t>Website</a:t>
            </a:r>
            <a:endParaRPr lang="en-US" dirty="0"/>
          </a:p>
          <a:p>
            <a:r>
              <a:rPr lang="en-US" dirty="0"/>
              <a:t>Highest overall profit</a:t>
            </a:r>
          </a:p>
          <a:p>
            <a:r>
              <a:rPr lang="en-US" b="1" dirty="0"/>
              <a:t>Marketplace</a:t>
            </a:r>
            <a:endParaRPr lang="en-US" dirty="0"/>
          </a:p>
          <a:p>
            <a:r>
              <a:rPr lang="en-US" dirty="0"/>
              <a:t>Very low margin due to platform fees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72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8ABF-6852-FD85-F5A7-8128DAF0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 Rate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F311-007F-6D06-EFBC-C8E77CD99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825624"/>
            <a:ext cx="10922285" cy="4811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                                                                                    Return Rate by Category </a:t>
            </a:r>
          </a:p>
          <a:p>
            <a:pPr marL="0" indent="0">
              <a:buNone/>
            </a:pPr>
            <a:r>
              <a:rPr lang="en-IN" b="1" dirty="0"/>
              <a:t>Insights:</a:t>
            </a:r>
          </a:p>
          <a:p>
            <a:r>
              <a:rPr lang="en-US" b="1" dirty="0"/>
              <a:t>Highest returns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Electronics</a:t>
            </a:r>
            <a:br>
              <a:rPr lang="en-US" dirty="0"/>
            </a:br>
            <a:r>
              <a:rPr lang="en-US" dirty="0"/>
              <a:t>Books</a:t>
            </a:r>
            <a:br>
              <a:rPr lang="en-US" dirty="0"/>
            </a:br>
            <a:r>
              <a:rPr lang="en-US" dirty="0"/>
              <a:t>Clothing</a:t>
            </a:r>
          </a:p>
          <a:p>
            <a:pPr marL="0" indent="0">
              <a:buNone/>
            </a:pPr>
            <a:r>
              <a:rPr lang="en-US" b="1" dirty="0"/>
              <a:t>Suggests</a:t>
            </a:r>
            <a:r>
              <a:rPr lang="en-US" dirty="0"/>
              <a:t>:</a:t>
            </a:r>
          </a:p>
          <a:p>
            <a:r>
              <a:rPr lang="en-US" dirty="0"/>
              <a:t>Product expectation mismatch</a:t>
            </a:r>
          </a:p>
          <a:p>
            <a:r>
              <a:rPr lang="en-US" dirty="0"/>
              <a:t>Shipping damage</a:t>
            </a:r>
          </a:p>
          <a:p>
            <a:r>
              <a:rPr lang="en-US" dirty="0"/>
              <a:t>Size issues (Clothing)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8ACD3-3F18-1F8A-38BE-EEAEA4404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899325"/>
              </p:ext>
            </p:extLst>
          </p:nvPr>
        </p:nvGraphicFramePr>
        <p:xfrm>
          <a:off x="7315200" y="2355374"/>
          <a:ext cx="5726988" cy="3291840"/>
        </p:xfrm>
        <a:graphic>
          <a:graphicData uri="http://schemas.openxmlformats.org/drawingml/2006/table">
            <a:tbl>
              <a:tblPr/>
              <a:tblGrid>
                <a:gridCol w="2863494">
                  <a:extLst>
                    <a:ext uri="{9D8B030D-6E8A-4147-A177-3AD203B41FA5}">
                      <a16:colId xmlns:a16="http://schemas.microsoft.com/office/drawing/2014/main" val="4263798870"/>
                    </a:ext>
                  </a:extLst>
                </a:gridCol>
                <a:gridCol w="2863494">
                  <a:extLst>
                    <a:ext uri="{9D8B030D-6E8A-4147-A177-3AD203B41FA5}">
                      <a16:colId xmlns:a16="http://schemas.microsoft.com/office/drawing/2014/main" val="1274673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Return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77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8.61%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643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8.37%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59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15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42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Home &amp; Kitchen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992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Beauty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24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Food &amp; Beverage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5.67%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08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0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6738-E57E-7763-0385-18DFAA62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53F5E-C042-A871-F4D6-67FB61AC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Reduce returns by:</a:t>
            </a:r>
          </a:p>
          <a:p>
            <a:r>
              <a:rPr lang="en-US" dirty="0"/>
              <a:t>Improving product descriptions</a:t>
            </a:r>
          </a:p>
          <a:p>
            <a:r>
              <a:rPr lang="en-US" dirty="0"/>
              <a:t>Better size guides</a:t>
            </a:r>
          </a:p>
          <a:p>
            <a:r>
              <a:rPr lang="en-US" dirty="0"/>
              <a:t>Improved packaging</a:t>
            </a:r>
          </a:p>
          <a:p>
            <a:r>
              <a:rPr lang="en-US" dirty="0"/>
              <a:t>Customer review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64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9B47-4400-EC75-F3A7-219871E2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145"/>
          </a:xfrm>
        </p:spPr>
        <p:txBody>
          <a:bodyPr/>
          <a:lstStyle/>
          <a:p>
            <a:r>
              <a:rPr lang="en-IN" dirty="0"/>
              <a:t>Marketing Performance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458543-80CC-D2C7-2ACE-89C601F26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558021"/>
              </p:ext>
            </p:extLst>
          </p:nvPr>
        </p:nvGraphicFramePr>
        <p:xfrm>
          <a:off x="7773256" y="1868815"/>
          <a:ext cx="4802312" cy="2560320"/>
        </p:xfrm>
        <a:graphic>
          <a:graphicData uri="http://schemas.openxmlformats.org/drawingml/2006/table">
            <a:tbl>
              <a:tblPr/>
              <a:tblGrid>
                <a:gridCol w="2401156">
                  <a:extLst>
                    <a:ext uri="{9D8B030D-6E8A-4147-A177-3AD203B41FA5}">
                      <a16:colId xmlns:a16="http://schemas.microsoft.com/office/drawing/2014/main" val="1253785085"/>
                    </a:ext>
                  </a:extLst>
                </a:gridCol>
                <a:gridCol w="2401156">
                  <a:extLst>
                    <a:ext uri="{9D8B030D-6E8A-4147-A177-3AD203B41FA5}">
                      <a16:colId xmlns:a16="http://schemas.microsoft.com/office/drawing/2014/main" val="28373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85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TikTok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24.02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101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22.7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376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Instagram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92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3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Facebook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6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4.81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6877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24B812-1216-D889-E452-D33E821CC0AA}"/>
              </a:ext>
            </a:extLst>
          </p:cNvPr>
          <p:cNvSpPr txBox="1"/>
          <p:nvPr/>
        </p:nvSpPr>
        <p:spPr>
          <a:xfrm>
            <a:off x="7695344" y="1356189"/>
            <a:ext cx="3791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ROAS (Return on Ad Spend)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300FE-766B-9FF8-D352-9F623EED1A1D}"/>
              </a:ext>
            </a:extLst>
          </p:cNvPr>
          <p:cNvSpPr txBox="1"/>
          <p:nvPr/>
        </p:nvSpPr>
        <p:spPr>
          <a:xfrm>
            <a:off x="914400" y="1440265"/>
            <a:ext cx="628778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Insights</a:t>
            </a:r>
          </a:p>
          <a:p>
            <a:pPr>
              <a:buNone/>
            </a:pPr>
            <a:r>
              <a:rPr lang="en-US" sz="2400" b="1" dirty="0"/>
              <a:t>Best marketing channels:</a:t>
            </a:r>
          </a:p>
          <a:p>
            <a:pPr>
              <a:buNone/>
            </a:pPr>
            <a:r>
              <a:rPr lang="en-US" sz="2400" dirty="0"/>
              <a:t>TikTok Ads</a:t>
            </a:r>
            <a:br>
              <a:rPr lang="en-US" sz="2400" dirty="0"/>
            </a:br>
            <a:r>
              <a:rPr lang="en-US" sz="2400" dirty="0"/>
              <a:t>Influencer Marketing</a:t>
            </a:r>
            <a:br>
              <a:rPr lang="en-US" sz="2400" dirty="0"/>
            </a:br>
            <a:r>
              <a:rPr lang="en-US" sz="2400" dirty="0"/>
              <a:t>Instagram Ads</a:t>
            </a:r>
          </a:p>
          <a:p>
            <a:pPr>
              <a:buNone/>
            </a:pPr>
            <a:r>
              <a:rPr lang="en-US" sz="2400" dirty="0"/>
              <a:t>These platforms generate the </a:t>
            </a:r>
            <a:r>
              <a:rPr lang="en-US" sz="2400" b="1" dirty="0"/>
              <a:t>highest revenue per dollar spent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Worst performing channel:</a:t>
            </a:r>
          </a:p>
          <a:p>
            <a:pPr>
              <a:buNone/>
            </a:pPr>
            <a:r>
              <a:rPr lang="en-US" sz="2400" b="1" dirty="0"/>
              <a:t>Email Marketing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ROAS is </a:t>
            </a:r>
            <a:r>
              <a:rPr lang="en-US" sz="2400" b="1" dirty="0"/>
              <a:t>much lower than other platforms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253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8411A-C75E-B522-D1C8-966B9D74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484"/>
          </a:xfrm>
        </p:spPr>
        <p:txBody>
          <a:bodyPr/>
          <a:lstStyle/>
          <a:p>
            <a:r>
              <a:rPr lang="en-IN" dirty="0"/>
              <a:t>Marketing Efficiency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392080-2604-BCAA-B1F6-E501D43E2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57767"/>
              </p:ext>
            </p:extLst>
          </p:nvPr>
        </p:nvGraphicFramePr>
        <p:xfrm>
          <a:off x="7793804" y="1566103"/>
          <a:ext cx="4298880" cy="3566160"/>
        </p:xfrm>
        <a:graphic>
          <a:graphicData uri="http://schemas.openxmlformats.org/drawingml/2006/table">
            <a:tbl>
              <a:tblPr/>
              <a:tblGrid>
                <a:gridCol w="2149440">
                  <a:extLst>
                    <a:ext uri="{9D8B030D-6E8A-4147-A177-3AD203B41FA5}">
                      <a16:colId xmlns:a16="http://schemas.microsoft.com/office/drawing/2014/main" val="2598020809"/>
                    </a:ext>
                  </a:extLst>
                </a:gridCol>
                <a:gridCol w="2149440">
                  <a:extLst>
                    <a:ext uri="{9D8B030D-6E8A-4147-A177-3AD203B41FA5}">
                      <a16:colId xmlns:a16="http://schemas.microsoft.com/office/drawing/2014/main" val="927947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66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TikTok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89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Influencer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4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Instagram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1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Google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940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Facebook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98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Email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17.86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440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E2248E-4C19-EFD7-96FA-DB6DF5F26C24}"/>
              </a:ext>
            </a:extLst>
          </p:cNvPr>
          <p:cNvSpPr txBox="1"/>
          <p:nvPr/>
        </p:nvSpPr>
        <p:spPr>
          <a:xfrm>
            <a:off x="7054920" y="1196771"/>
            <a:ext cx="429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Cost Per Acquisition (CPA)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F7C52-0F04-1560-0EAD-994587863B15}"/>
              </a:ext>
            </a:extLst>
          </p:cNvPr>
          <p:cNvSpPr txBox="1"/>
          <p:nvPr/>
        </p:nvSpPr>
        <p:spPr>
          <a:xfrm>
            <a:off x="804808" y="165843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Insight :</a:t>
            </a:r>
          </a:p>
          <a:p>
            <a:pPr>
              <a:buNone/>
            </a:pPr>
            <a:r>
              <a:rPr lang="en-US" sz="2800" dirty="0"/>
              <a:t>Email marketing has the </a:t>
            </a:r>
            <a:r>
              <a:rPr lang="en-US" sz="2800" b="1" dirty="0"/>
              <a:t>highest customer acquisition cost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This indicates inefficient targeting or outdated email campaigns</a:t>
            </a:r>
          </a:p>
        </p:txBody>
      </p:sp>
    </p:spTree>
    <p:extLst>
      <p:ext uri="{BB962C8B-B14F-4D97-AF65-F5344CB8AC3E}">
        <p14:creationId xmlns:p14="http://schemas.microsoft.com/office/powerpoint/2010/main" val="37875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D946-4D6A-3E13-1A08-09EEEB66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4758"/>
          </a:xfrm>
        </p:spPr>
        <p:txBody>
          <a:bodyPr/>
          <a:lstStyle/>
          <a:p>
            <a:r>
              <a:rPr lang="en-IN" dirty="0"/>
              <a:t>Monthly Sales Trend: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9E7C-F3D2-425D-1ED7-438559478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884"/>
            <a:ext cx="10515600" cy="55788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Strong revenue months:</a:t>
            </a:r>
          </a:p>
          <a:p>
            <a:r>
              <a:rPr lang="en-IN" dirty="0"/>
              <a:t>Dec 2025 → $650K</a:t>
            </a:r>
          </a:p>
          <a:p>
            <a:r>
              <a:rPr lang="en-IN" dirty="0"/>
              <a:t>Jun 2025 → $530K</a:t>
            </a:r>
          </a:p>
          <a:p>
            <a:r>
              <a:rPr lang="en-IN" dirty="0"/>
              <a:t>Apr 2025 → $487K</a:t>
            </a:r>
          </a:p>
          <a:p>
            <a:pPr marL="0" indent="0">
              <a:buNone/>
            </a:pPr>
            <a:r>
              <a:rPr lang="en-IN" b="1" dirty="0"/>
              <a:t>Weak months:</a:t>
            </a:r>
          </a:p>
          <a:p>
            <a:r>
              <a:rPr lang="en-IN" dirty="0"/>
              <a:t>Sep 2025 → $124K</a:t>
            </a:r>
          </a:p>
          <a:p>
            <a:r>
              <a:rPr lang="en-IN" dirty="0"/>
              <a:t>Jan 2025 → $180K</a:t>
            </a:r>
          </a:p>
          <a:p>
            <a:pPr marL="0" indent="0">
              <a:buNone/>
            </a:pPr>
            <a:r>
              <a:rPr lang="en-IN" b="1" dirty="0"/>
              <a:t>Insight</a:t>
            </a:r>
          </a:p>
          <a:p>
            <a:r>
              <a:rPr lang="en-IN" dirty="0"/>
              <a:t>Revenue spikes likely occur during:</a:t>
            </a:r>
          </a:p>
          <a:p>
            <a:r>
              <a:rPr lang="en-IN" dirty="0"/>
              <a:t>seasonal sales</a:t>
            </a:r>
          </a:p>
          <a:p>
            <a:r>
              <a:rPr lang="en-IN" dirty="0"/>
              <a:t>promotional campaigns</a:t>
            </a:r>
          </a:p>
          <a:p>
            <a:r>
              <a:rPr lang="en-IN" dirty="0"/>
              <a:t>holiday periods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62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2247-FE63-7ADF-9E31-F4743A2D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1064"/>
          </a:xfrm>
        </p:spPr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E3B9B-23D1-6BB1-9181-4708C7255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076"/>
            <a:ext cx="10515600" cy="497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Reallocate Marketing Budget</a:t>
            </a:r>
          </a:p>
          <a:p>
            <a:pPr marL="0" indent="0">
              <a:buNone/>
            </a:pPr>
            <a:r>
              <a:rPr lang="en-US" dirty="0"/>
              <a:t>Increase spend on:</a:t>
            </a:r>
          </a:p>
          <a:p>
            <a:r>
              <a:rPr lang="en-US" dirty="0"/>
              <a:t>TikTok Ads</a:t>
            </a:r>
          </a:p>
          <a:p>
            <a:r>
              <a:rPr lang="en-US" dirty="0"/>
              <a:t>Influencer marketing</a:t>
            </a:r>
          </a:p>
          <a:p>
            <a:r>
              <a:rPr lang="en-US" dirty="0"/>
              <a:t>Instagram Ads</a:t>
            </a:r>
          </a:p>
          <a:p>
            <a:pPr marL="0" indent="0">
              <a:buNone/>
            </a:pPr>
            <a:r>
              <a:rPr lang="en-US" dirty="0"/>
              <a:t>Reduce spend on:</a:t>
            </a:r>
          </a:p>
          <a:p>
            <a:r>
              <a:rPr lang="en-US" dirty="0"/>
              <a:t>Email marketing</a:t>
            </a:r>
          </a:p>
          <a:p>
            <a:r>
              <a:rPr lang="en-US" dirty="0"/>
              <a:t>lower ROI channels</a:t>
            </a:r>
          </a:p>
          <a:p>
            <a:pPr marL="0" indent="0">
              <a:buNone/>
            </a:pPr>
            <a:r>
              <a:rPr lang="en-US" dirty="0"/>
              <a:t>This could significantly improve marketing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7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5DD6-B107-56BB-2AC8-A8602F7F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BD144-F682-53B0-D608-F9A544E1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319"/>
            <a:ext cx="10515600" cy="5619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Focus Growth on High-Margin Categories</a:t>
            </a:r>
          </a:p>
          <a:p>
            <a:pPr marL="0" indent="0">
              <a:buNone/>
            </a:pPr>
            <a:r>
              <a:rPr lang="en-US" dirty="0"/>
              <a:t>Expand inventory and promotions for:</a:t>
            </a:r>
          </a:p>
          <a:p>
            <a:r>
              <a:rPr lang="en-US" dirty="0"/>
              <a:t>Electronics</a:t>
            </a:r>
          </a:p>
          <a:p>
            <a:r>
              <a:rPr lang="en-US" dirty="0"/>
              <a:t>Toys</a:t>
            </a:r>
          </a:p>
          <a:p>
            <a:r>
              <a:rPr lang="en-US" dirty="0"/>
              <a:t>Home &amp; Kitchen</a:t>
            </a:r>
          </a:p>
          <a:p>
            <a:pPr marL="0" indent="0">
              <a:buNone/>
            </a:pPr>
            <a:r>
              <a:rPr lang="en-US" dirty="0"/>
              <a:t>These categories generate </a:t>
            </a:r>
            <a:r>
              <a:rPr lang="en-US" b="1" dirty="0"/>
              <a:t>highest margins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Reduce Return Rate</a:t>
            </a:r>
            <a:endParaRPr lang="en-US" dirty="0"/>
          </a:p>
          <a:p>
            <a:r>
              <a:rPr lang="en-US" dirty="0"/>
              <a:t>Electronics</a:t>
            </a:r>
          </a:p>
          <a:p>
            <a:r>
              <a:rPr lang="en-US" dirty="0"/>
              <a:t>Clothing</a:t>
            </a:r>
          </a:p>
          <a:p>
            <a:pPr marL="0" indent="0">
              <a:buNone/>
            </a:pPr>
            <a:r>
              <a:rPr lang="en-US" dirty="0"/>
              <a:t>Improving product descriptions, packaging, and size guidance can reduce return costs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09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F31D-48C2-F401-E415-C8AE7EBD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8ACC-D438-F615-B247-11C6364AE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126"/>
            <a:ext cx="10515600" cy="52728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Shift Sales Toward Direct Channels :</a:t>
            </a:r>
          </a:p>
          <a:p>
            <a:pPr marL="0" indent="0">
              <a:buNone/>
            </a:pPr>
            <a:r>
              <a:rPr lang="en-US" sz="2400" dirty="0"/>
              <a:t>Encourage purchases through:</a:t>
            </a:r>
          </a:p>
          <a:p>
            <a:r>
              <a:rPr lang="en-US" sz="2400" dirty="0"/>
              <a:t>Website</a:t>
            </a:r>
          </a:p>
          <a:p>
            <a:r>
              <a:rPr lang="en-US" sz="2400" dirty="0"/>
              <a:t>Mobile App</a:t>
            </a:r>
          </a:p>
          <a:p>
            <a:pPr marL="0" indent="0">
              <a:buNone/>
            </a:pPr>
            <a:r>
              <a:rPr lang="en-US" sz="2400" dirty="0"/>
              <a:t>Reduce reliance on marketplace platforms where </a:t>
            </a:r>
            <a:r>
              <a:rPr lang="en-US" sz="2400" b="1" dirty="0"/>
              <a:t>commission fees reduce profitability</a:t>
            </a:r>
            <a:endParaRPr lang="en-US" sz="2400" dirty="0"/>
          </a:p>
          <a:p>
            <a:pPr marL="0" indent="0">
              <a:buNone/>
            </a:pPr>
            <a:r>
              <a:rPr lang="en-IN" b="1" dirty="0"/>
              <a:t>Business Conclusion :</a:t>
            </a:r>
          </a:p>
          <a:p>
            <a:r>
              <a:rPr lang="en-US" dirty="0"/>
              <a:t>BrightCart generates strong revenue but can improve profitability by:</a:t>
            </a:r>
          </a:p>
          <a:p>
            <a:r>
              <a:rPr lang="en-US" dirty="0"/>
              <a:t>optimizing marketing spend</a:t>
            </a:r>
          </a:p>
          <a:p>
            <a:r>
              <a:rPr lang="en-US" dirty="0"/>
              <a:t>reducing product returns</a:t>
            </a:r>
          </a:p>
          <a:p>
            <a:r>
              <a:rPr lang="en-US" dirty="0"/>
              <a:t>focusing on high-margin product categories</a:t>
            </a:r>
          </a:p>
          <a:p>
            <a:r>
              <a:rPr lang="en-US" dirty="0"/>
              <a:t>prioritizing direct sales channels</a:t>
            </a:r>
          </a:p>
          <a:p>
            <a:r>
              <a:rPr lang="en-US" dirty="0"/>
              <a:t>These actions could significantly increase overall profit margins.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728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Widescreen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E-Commerce : Profitability Analysis</vt:lpstr>
      <vt:lpstr>KPIs : </vt:lpstr>
      <vt:lpstr>Top performing categories :</vt:lpstr>
      <vt:lpstr>Insights</vt:lpstr>
      <vt:lpstr>Recommendations :</vt:lpstr>
      <vt:lpstr>Sales Channel Insights :</vt:lpstr>
      <vt:lpstr>Insights :</vt:lpstr>
      <vt:lpstr>Return Rate Insights</vt:lpstr>
      <vt:lpstr>Recommendation</vt:lpstr>
      <vt:lpstr>Marketing Performance Insights</vt:lpstr>
      <vt:lpstr>Marketing Efficiency</vt:lpstr>
      <vt:lpstr>Monthly Sales Trend:</vt:lpstr>
      <vt:lpstr>Business Recommendations</vt:lpstr>
      <vt:lpstr>Recommendations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Kumar</dc:creator>
  <cp:lastModifiedBy>Ujjwal Kumar</cp:lastModifiedBy>
  <cp:revision>1</cp:revision>
  <dcterms:created xsi:type="dcterms:W3CDTF">2026-03-13T15:38:27Z</dcterms:created>
  <dcterms:modified xsi:type="dcterms:W3CDTF">2026-03-13T15:38:28Z</dcterms:modified>
</cp:coreProperties>
</file>